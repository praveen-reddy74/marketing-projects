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1027-073C-5C14-6BC0-CF01DF32F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7F750-D479-50D8-AF1C-1268B2D18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05B25-DFAF-75AD-06F8-2DB026D9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CE793-D2FE-9253-793D-4314B6B1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848EF-CE32-B71C-8FD7-D3F4DA54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0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868C-2279-F5F6-A7A8-B1EEBEAB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93750-BCE8-625D-5629-D151A717F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C8DE5-29D5-AE4A-EF3C-D27E4029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23A66-BDF0-8002-071E-D813B901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9133C-02D3-4330-4179-17172FBB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0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D2D14-94A6-0F06-A46D-410FED67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1A1A6-E19A-B4E6-C4D8-1089A0FB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3EAE2-0CC0-79A6-9C01-3B86DB16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23B6F-7013-A667-6AE4-F0D8C000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45A83-A99A-ABA2-F24D-BD5F2256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5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5FAA-676A-636F-9700-EA25A142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AF5F8-2483-E078-AF7B-4BF15E624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B3FEA-C4B8-2CF7-F19F-BB8A4F187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C35-68E7-6060-7AF2-F31C2B29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090ED-CCE1-0DF8-61A5-2BF95282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860F3-D8A6-C971-B0BE-DDD13AFD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01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EAD2-28B5-579B-7EFC-A7B30C41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BD1BB-8BB9-A385-5A4A-85A62146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037D4-A857-7CED-50CC-4A54439A2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7982F-7AE7-D961-C0F0-DC8ECAA57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6DA8A-5E88-800E-8F5C-84390263D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CA6D51-9702-3FF4-190B-E169637BC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DFA7E5-01E2-069B-07FB-042578F6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9B458C-F257-DE5D-0E36-89538C95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98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D32E-7334-D87A-ACC2-041685DBD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4114C-3AB1-14CB-7579-63E22BE42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5820EB-F8E8-E31C-EDF2-B3A882972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11F18-C5EE-4E27-4C76-265463B8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937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D355A-E61E-8D0F-D4BC-3D1DC124F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69337-38D1-A683-8BDE-4A4A7085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3609C-1C2D-D3D4-3D13-B896D7D5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574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EB42-81B2-3CCA-B541-AB779A2B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6EA89-BB49-278B-8BB4-F75E73BB7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421AD-5452-1AF4-254E-60727A0CF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EF0D0-2B5B-F866-A343-CE3ADFDE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9E388-DF85-2106-59DB-745D1986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7094B-B2BF-E4B5-E3DC-A58FA7F0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57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CEA7-F4C8-AF3C-DA00-A8FF8B26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120F83-5DB6-B309-803D-409CB5BD8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CF9A1-5E33-A972-B972-BACE410E0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77DF2-D559-8D31-63E7-B21E9266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77720-E413-71EC-F35A-65D14073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87A53-6A43-3261-AA49-D2E7BF04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24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D13A-1E37-80B9-9C28-3CF55DB8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16AAF-9235-A4B8-EFBC-ADFE48F7D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C2EB5-8559-1A41-1F51-D9E0CAA1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F18D9-CB66-C23C-3CB1-B589FE4E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95E56-BB68-763A-6DC2-11B32D5E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20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21E95-A7FB-8689-FD6E-571B9BF0C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9AFEC-C1B7-6969-CBF3-01FCB554B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40B3D-89E4-6106-39A1-3400F4BC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DDA2-0B20-ADF7-8E84-6FEAC679A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853DF-C199-4DDA-0B44-BB3DAFB9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31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B2EB0E-4DD6-5E31-6EE4-39EBF1C7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99EF5-EE3F-B7F8-1123-F927430AB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B44D4-B201-8969-A03B-D35A359F2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F628A-1825-4F4C-AE79-38768BBCE93A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7F8B3-4FC5-2145-5BDE-B5C2C1EB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EED17-0965-BD0A-A307-2C2405BF5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D881F-AE03-4300-86A0-39CDD2D5C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807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conomictimes.indiatimes.com/industry/cons-products/garments-/-textiles/india-largest-market-within-asia-and-sixth-largest-globally-levi-strauss-co-president-michelle-gass/articleshow/104221794.cms?utm_source=contentofinterest&amp;utm_medium=text&amp;utm_campaign=cppst" TargetMode="External"/><Relationship Id="rId2" Type="http://schemas.openxmlformats.org/officeDocument/2006/relationships/hyperlink" Target="https://www.tofler.in/levi-strauss-india-private-limited/company/U18101KA1994PTC015448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crapehero.com/location-reports/Levis-India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ynecticsworld.com/levis-denizen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16F4-E71E-2B76-932C-CDDDCD922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2474" y="601858"/>
            <a:ext cx="9144000" cy="312608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+mn-lt"/>
              </a:rPr>
              <a:t>GROUP 3</a:t>
            </a:r>
          </a:p>
        </p:txBody>
      </p:sp>
    </p:spTree>
    <p:extLst>
      <p:ext uri="{BB962C8B-B14F-4D97-AF65-F5344CB8AC3E}">
        <p14:creationId xmlns:p14="http://schemas.microsoft.com/office/powerpoint/2010/main" val="282190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B2CDE-0AB4-EC9E-1652-B3D7A55B5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2813" y="193895"/>
            <a:ext cx="9144000" cy="140630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+mn-lt"/>
              </a:rPr>
              <a:t>Value Proposition </a:t>
            </a:r>
            <a:br>
              <a:rPr lang="en-IN" sz="3600" dirty="0">
                <a:latin typeface="+mn-lt"/>
              </a:rPr>
            </a:br>
            <a:endParaRPr lang="en-IN" sz="36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35C58-3D1C-4C4A-D497-FDA4645EE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572" y="1600200"/>
            <a:ext cx="11057206" cy="4659922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The fit stays, so does the feeling.</a:t>
            </a:r>
            <a:endParaRPr lang="en-US" sz="2800" b="0" dirty="0">
              <a:effectLst/>
            </a:endParaRPr>
          </a:p>
          <a:p>
            <a:pPr algn="l"/>
            <a:br>
              <a:rPr lang="en-US" sz="2800" b="0" dirty="0">
                <a:effectLst/>
              </a:rPr>
            </a:br>
            <a:br>
              <a:rPr lang="en-US" sz="2800" b="0" dirty="0">
                <a:effectLst/>
              </a:rPr>
            </a:br>
            <a:r>
              <a:rPr lang="en-US" sz="2800" dirty="0"/>
              <a:t>Key Supports: </a:t>
            </a:r>
            <a:endParaRPr lang="en-US" sz="2800" b="0" dirty="0">
              <a:effectLst/>
            </a:endParaRPr>
          </a:p>
          <a:p>
            <a:pPr algn="l" fontAlgn="base"/>
            <a:r>
              <a:rPr lang="en-US" sz="2800" dirty="0"/>
              <a:t>Timeless fit </a:t>
            </a:r>
          </a:p>
          <a:p>
            <a:pPr algn="l" fontAlgn="base"/>
            <a:r>
              <a:rPr lang="en-US" sz="2800" dirty="0"/>
              <a:t>Built to last </a:t>
            </a:r>
          </a:p>
          <a:p>
            <a:pPr algn="l" fontAlgn="base"/>
            <a:r>
              <a:rPr lang="en-US" sz="2800" dirty="0"/>
              <a:t>Emotional bond with customers</a:t>
            </a:r>
          </a:p>
          <a:p>
            <a:pPr algn="l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6180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7EF6-2040-5070-64AA-0D99278DD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2474" y="0"/>
            <a:ext cx="9144000" cy="562708"/>
          </a:xfrm>
        </p:spPr>
        <p:txBody>
          <a:bodyPr>
            <a:noAutofit/>
          </a:bodyPr>
          <a:lstStyle/>
          <a:p>
            <a:r>
              <a:rPr lang="en-IN" sz="3600" dirty="0">
                <a:latin typeface="+mn-lt"/>
              </a:rPr>
              <a:t>ANSOFF MATRIX: Levi’s India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9EF69F-65FF-A8FD-A8C5-F8D7A6527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005791"/>
              </p:ext>
            </p:extLst>
          </p:nvPr>
        </p:nvGraphicFramePr>
        <p:xfrm>
          <a:off x="0" y="427172"/>
          <a:ext cx="12191998" cy="6749220"/>
        </p:xfrm>
        <a:graphic>
          <a:graphicData uri="http://schemas.openxmlformats.org/drawingml/2006/table">
            <a:tbl>
              <a:tblPr/>
              <a:tblGrid>
                <a:gridCol w="1276224">
                  <a:extLst>
                    <a:ext uri="{9D8B030D-6E8A-4147-A177-3AD203B41FA5}">
                      <a16:colId xmlns:a16="http://schemas.microsoft.com/office/drawing/2014/main" val="3678562370"/>
                    </a:ext>
                  </a:extLst>
                </a:gridCol>
                <a:gridCol w="5254234">
                  <a:extLst>
                    <a:ext uri="{9D8B030D-6E8A-4147-A177-3AD203B41FA5}">
                      <a16:colId xmlns:a16="http://schemas.microsoft.com/office/drawing/2014/main" val="1449030423"/>
                    </a:ext>
                  </a:extLst>
                </a:gridCol>
                <a:gridCol w="5661540">
                  <a:extLst>
                    <a:ext uri="{9D8B030D-6E8A-4147-A177-3AD203B41FA5}">
                      <a16:colId xmlns:a16="http://schemas.microsoft.com/office/drawing/2014/main" val="683350717"/>
                    </a:ext>
                  </a:extLst>
                </a:gridCol>
              </a:tblGrid>
              <a:tr h="528807">
                <a:tc>
                  <a:txBody>
                    <a:bodyPr/>
                    <a:lstStyle/>
                    <a:p>
                      <a:pPr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88550" marR="88550" marT="88550" marB="885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Existing Products 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8550" marR="88550" marT="88550" marB="885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New Products 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8550" marR="88550" marT="88550" marB="885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274752"/>
                  </a:ext>
                </a:extLst>
              </a:tr>
              <a:tr h="260498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Existing Markets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8550" marR="88550" marT="88550" marB="885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Market Penetration : Yes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 FY’24, the net profit reduced by 13.42% (from 184 Cr to 159.4 Cr) while the apparel market is  growing at a rate of ~4% (950 Cr) 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2400" b="0" i="0" u="sng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Source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8550" marR="88550" marT="88550" marB="885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Product development : Yes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According to CEO Michelle Gass 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World wide trend</a:t>
                      </a: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3 bottoms for 1 top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India’s trend</a:t>
                      </a: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1 bottom for 1 top (Avg), so the company is focusing on non-denim clothing and women's apparel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457200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                         </a:t>
                      </a:r>
                      <a:r>
                        <a:rPr lang="en-US" sz="2400" b="0" i="0" u="sng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Source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8550" marR="88550" marT="88550" marB="885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199415"/>
                  </a:ext>
                </a:extLst>
              </a:tr>
              <a:tr h="329704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New Markets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8550" marR="88550" marT="88550" marB="885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Market Development : Yes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Approx. 70% (270+/400+ stores) outlets are present in just 10 states( KA,MH,UP,TN,HR,DL,GJ)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                                </a:t>
                      </a:r>
                      <a:r>
                        <a:rPr lang="en-US" sz="2400" b="0" i="0" u="sng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Source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8550" marR="88550" marT="88550" marB="885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                         Diversification : No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Avoids diversification as core denim business remains strong to maintain its premium positioning and market dominance</a:t>
                      </a:r>
                    </a:p>
                    <a:p>
                      <a:pPr algn="ctr" rtl="0" fontAlgn="ctr">
                        <a:buNone/>
                      </a:pPr>
                      <a:b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8550" marR="88550" marT="88550" marB="885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88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31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B665-F586-8C73-8B91-6B6B2AF2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779"/>
            <a:ext cx="10515600" cy="656029"/>
          </a:xfrm>
        </p:spPr>
        <p:txBody>
          <a:bodyPr>
            <a:normAutofit/>
          </a:bodyPr>
          <a:lstStyle/>
          <a:p>
            <a:pPr algn="ctr"/>
            <a:r>
              <a:rPr lang="fr-FR" sz="3600" dirty="0" err="1">
                <a:latin typeface="+mn-lt"/>
              </a:rPr>
              <a:t>Porter’s</a:t>
            </a:r>
            <a:r>
              <a:rPr lang="fr-FR" sz="3600" dirty="0">
                <a:latin typeface="+mn-lt"/>
              </a:rPr>
              <a:t> 5 Forces – </a:t>
            </a:r>
            <a:r>
              <a:rPr lang="fr-FR" sz="3600" dirty="0" err="1">
                <a:latin typeface="+mn-lt"/>
              </a:rPr>
              <a:t>Levi’s</a:t>
            </a:r>
            <a:r>
              <a:rPr lang="fr-FR" sz="3600" dirty="0">
                <a:latin typeface="+mn-lt"/>
              </a:rPr>
              <a:t> </a:t>
            </a:r>
            <a:r>
              <a:rPr lang="fr-FR" sz="3600" dirty="0" err="1">
                <a:latin typeface="+mn-lt"/>
              </a:rPr>
              <a:t>India</a:t>
            </a:r>
            <a:endParaRPr lang="en-IN" sz="3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ACB7-F5DE-C6DA-7B85-60AF241D2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608" y="817808"/>
            <a:ext cx="6400799" cy="58784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1. Competitive Rivalry – High</a:t>
            </a:r>
            <a:endParaRPr lang="en-US" sz="2400" b="0" dirty="0">
              <a:effectLst/>
            </a:endParaRPr>
          </a:p>
          <a:p>
            <a:pPr fontAlgn="base"/>
            <a:r>
              <a:rPr lang="en-US" sz="2400" dirty="0"/>
              <a:t>Competes with existing brands like </a:t>
            </a:r>
            <a:r>
              <a:rPr lang="en-US" sz="2400" b="1" dirty="0"/>
              <a:t>Lee, Wrangler, Mufti, H&amp;M, Flying Machine</a:t>
            </a:r>
            <a:endParaRPr lang="en-US" sz="2400" dirty="0"/>
          </a:p>
          <a:p>
            <a:pPr fontAlgn="base"/>
            <a:r>
              <a:rPr lang="en-US" sz="2400" dirty="0"/>
              <a:t>Apparel market growing fast → more brands entering the </a:t>
            </a:r>
            <a:r>
              <a:rPr lang="en-US" sz="2400" dirty="0" err="1"/>
              <a:t>indian</a:t>
            </a:r>
            <a:r>
              <a:rPr lang="en-US" sz="2400" dirty="0"/>
              <a:t> market</a:t>
            </a:r>
          </a:p>
          <a:p>
            <a:pPr marL="0" indent="0">
              <a:buNone/>
            </a:pPr>
            <a:r>
              <a:rPr lang="en-US" sz="2400" b="1" dirty="0"/>
              <a:t>2. Threat of New Entrants – Medium</a:t>
            </a:r>
            <a:endParaRPr lang="en-US" sz="2400" b="0" dirty="0">
              <a:effectLst/>
            </a:endParaRPr>
          </a:p>
          <a:p>
            <a:pPr fontAlgn="base"/>
            <a:r>
              <a:rPr lang="en-US" sz="2400" dirty="0"/>
              <a:t> Levi’s brand legacy and scale are hard to match.</a:t>
            </a:r>
            <a:br>
              <a:rPr lang="en-US" sz="2400" dirty="0"/>
            </a:br>
            <a:r>
              <a:rPr lang="en-US" sz="2400" dirty="0"/>
              <a:t>New brands still enter, drawing price-sensitive buyers with low costs and innovations.</a:t>
            </a:r>
          </a:p>
          <a:p>
            <a:pPr marL="0" indent="0">
              <a:buNone/>
            </a:pPr>
            <a:r>
              <a:rPr lang="en-US" sz="2400" b="1" dirty="0"/>
              <a:t>3.Bargaining Power of Suppliers – Medium</a:t>
            </a:r>
            <a:endParaRPr lang="en-US" sz="2400" b="0" dirty="0">
              <a:effectLst/>
            </a:endParaRPr>
          </a:p>
          <a:p>
            <a:pPr fontAlgn="base"/>
            <a:r>
              <a:rPr lang="en-US" sz="2400" dirty="0"/>
              <a:t>Levi’s uses </a:t>
            </a:r>
            <a:r>
              <a:rPr lang="en-US" sz="2400" b="1" dirty="0"/>
              <a:t>sustainable cotton (92%)</a:t>
            </a:r>
            <a:r>
              <a:rPr lang="en-US" sz="2400" dirty="0"/>
              <a:t> to stay flexible</a:t>
            </a:r>
          </a:p>
          <a:p>
            <a:pPr fontAlgn="base"/>
            <a:r>
              <a:rPr lang="en-US" sz="2400" b="1" dirty="0"/>
              <a:t>Rising cotton prices</a:t>
            </a:r>
            <a:r>
              <a:rPr lang="en-US" sz="2400" dirty="0"/>
              <a:t> affect cost margins</a:t>
            </a:r>
          </a:p>
          <a:p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AA558-CCB1-CF23-9DE7-3EB3528F7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7408" y="817808"/>
            <a:ext cx="5359791" cy="53591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4. Bargaining Power of Customers – Medium</a:t>
            </a:r>
            <a:endParaRPr lang="en-US" sz="2400" b="0" dirty="0">
              <a:effectLst/>
            </a:endParaRPr>
          </a:p>
          <a:p>
            <a:pPr fontAlgn="base"/>
            <a:r>
              <a:rPr lang="en-US" sz="2400" dirty="0"/>
              <a:t>India’s fashion market is growing at 22.2% CAGR, increasing consumer choices.</a:t>
            </a:r>
          </a:p>
          <a:p>
            <a:pPr fontAlgn="base"/>
            <a:r>
              <a:rPr lang="en-US" sz="2400" dirty="0"/>
              <a:t>Levi’s balance premium pricing, as price-sensitive buyers dominate 60% of the market. - </a:t>
            </a:r>
            <a:r>
              <a:rPr lang="en-US" sz="24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5. Threat of Substitutes – Medium</a:t>
            </a:r>
            <a:endParaRPr lang="en-US" sz="2400" b="0" dirty="0">
              <a:effectLst/>
            </a:endParaRPr>
          </a:p>
          <a:p>
            <a:pPr fontAlgn="base"/>
            <a:r>
              <a:rPr lang="en-US" sz="2400" dirty="0"/>
              <a:t>Athleisure and fast fashion are strong alternatives</a:t>
            </a:r>
          </a:p>
          <a:p>
            <a:pPr fontAlgn="base"/>
            <a:r>
              <a:rPr lang="en-US" sz="2400" dirty="0"/>
              <a:t>Youth prefer trend-based, lower-cost options.</a:t>
            </a:r>
          </a:p>
          <a:p>
            <a:pPr marL="0" indent="0">
              <a:buNone/>
            </a:pPr>
            <a:br>
              <a:rPr lang="en-US" sz="2400" b="0" dirty="0">
                <a:effectLst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2800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345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GROUP 3</vt:lpstr>
      <vt:lpstr>Value Proposition  </vt:lpstr>
      <vt:lpstr>ANSOFF MATRIX: Levi’s India</vt:lpstr>
      <vt:lpstr>Porter’s 5 Forces – Levi’s India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gandhi</dc:creator>
  <cp:lastModifiedBy>lokesh gandhi</cp:lastModifiedBy>
  <cp:revision>3</cp:revision>
  <dcterms:created xsi:type="dcterms:W3CDTF">2025-06-11T22:40:16Z</dcterms:created>
  <dcterms:modified xsi:type="dcterms:W3CDTF">2025-06-12T04:27:00Z</dcterms:modified>
</cp:coreProperties>
</file>