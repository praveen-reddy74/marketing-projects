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omments/comment1.xml" ContentType="application/vnd.openxmlformats-officedocument.presentationml.comment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Isha Agarwal" initials="IA" lastIdx="1" clrIdx="0">
    <p:extLst>
      <p:ext uri="{19B8F6BF-5375-455C-9EA6-DF929625EA0E}">
        <p15:presenceInfo xmlns:p15="http://schemas.microsoft.com/office/powerpoint/2012/main" userId="ec3b6955cf9bdf21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84" autoAdjust="0"/>
    <p:restoredTop sz="94676"/>
  </p:normalViewPr>
  <p:slideViewPr>
    <p:cSldViewPr snapToGrid="0">
      <p:cViewPr varScale="1">
        <p:scale>
          <a:sx n="92" d="100"/>
          <a:sy n="92" d="100"/>
        </p:scale>
        <p:origin x="1264" y="4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commentAuthors" Target="commentAuthors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omments/comment1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25-05-30T23:02:41.999" idx="1">
    <p:pos x="10" y="10"/>
    <p:text/>
    <p:extLst>
      <p:ext uri="{C676402C-5697-4E1C-873F-D02D1690AC5C}">
        <p15:threadingInfo xmlns:p15="http://schemas.microsoft.com/office/powerpoint/2012/main" timeZoneBias="-330"/>
      </p:ext>
    </p:extLst>
  </p:cm>
</p:cmLst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1B994A-ED2A-0829-60EA-D89ECE84E96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F01B0EE-9405-9CED-E67A-0EC452B1568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206610-AA6B-5964-B3FA-A3843F9640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813754-9A25-47D4-9FAB-978691EE5414}" type="datetimeFigureOut">
              <a:rPr lang="en-IN" smtClean="0"/>
              <a:t>31/05/25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320F617-3523-0273-3C11-9F9401BAB2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1342370-5476-72FC-6090-CBA3BE87E8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AE71E0-9C8B-422F-B71B-FB6AD28DC5C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6100005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100EDA-493C-B887-EAC1-3BBE549C43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E98B37-58F2-5CC9-7632-EE248E5BDC5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D3156E4-11C0-E241-CDD9-FBF9CEAA02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813754-9A25-47D4-9FAB-978691EE5414}" type="datetimeFigureOut">
              <a:rPr lang="en-IN" smtClean="0"/>
              <a:t>31/05/25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67DD9A1-4703-F7CE-A36C-8CF2849095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D8FF219-0056-A4D4-F374-E9B53C4251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AE71E0-9C8B-422F-B71B-FB6AD28DC5C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819517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4C4888-ABFB-23EA-B529-3E47410A84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C4E8126-9A88-96B2-32ED-17FC3264312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676B574-0049-157D-3990-27B77928C9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813754-9A25-47D4-9FAB-978691EE5414}" type="datetimeFigureOut">
              <a:rPr lang="en-IN" smtClean="0"/>
              <a:t>31/05/25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66490EA-8C4F-C524-1470-9934933998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E5AD7A6-A09F-48A6-37CC-6B27EF4EBB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AE71E0-9C8B-422F-B71B-FB6AD28DC5C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178794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BF341C-FA3D-8CE6-314E-196A3A5114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DE6978-DEDC-DEE4-D7C0-EEA92E28DA1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4751F41-5ED3-018B-8810-71C9E2A4871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A3D6DBF-007C-DDEA-9112-AC6A1364D0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813754-9A25-47D4-9FAB-978691EE5414}" type="datetimeFigureOut">
              <a:rPr lang="en-IN" smtClean="0"/>
              <a:t>31/05/25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379FBC4-60F3-9863-6209-244A1B7FB7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3E639D5-35EB-2FB1-C1C4-B499BB10FC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AE71E0-9C8B-422F-B71B-FB6AD28DC5C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4421082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E7A9AE-46E9-3857-401D-2797C19368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4270BFE-3AB2-F711-FCF3-4ADB74C27CD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10D50E5-00AD-8EC6-BE95-5A9E76370D1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75376E0-7B31-E116-AB97-ABB24D7C9BD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8AE0244-C0C0-8AFC-F3AE-0BF05B60B39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AF23BE3-7C39-41C8-EF44-989682A067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813754-9A25-47D4-9FAB-978691EE5414}" type="datetimeFigureOut">
              <a:rPr lang="en-IN" smtClean="0"/>
              <a:t>31/05/25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9FB30C3-8916-18E2-3A7E-69A1879D98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79EC52C-BA44-82F4-2156-60774FC324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AE71E0-9C8B-422F-B71B-FB6AD28DC5C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6309632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445217-01E9-D601-DA63-7466792660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062922E-B6EE-173A-573F-77D24AF7A3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813754-9A25-47D4-9FAB-978691EE5414}" type="datetimeFigureOut">
              <a:rPr lang="en-IN" smtClean="0"/>
              <a:t>31/05/25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CDA034D-C6D7-3CAD-4B18-EEC778B9DA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4064E2B-4753-2D3C-8552-48E22097E6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AE71E0-9C8B-422F-B71B-FB6AD28DC5C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187948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5C786F7-40F2-ED32-7E7A-2076AC134C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813754-9A25-47D4-9FAB-978691EE5414}" type="datetimeFigureOut">
              <a:rPr lang="en-IN" smtClean="0"/>
              <a:t>31/05/25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0175798-C1D5-1F69-373D-E8DC0603B7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FAE567B-6566-A3D9-53EB-E03C5B311D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AE71E0-9C8B-422F-B71B-FB6AD28DC5C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000194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C7780E-6875-09C4-5351-96B8C03763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7048E89-8587-68DB-E37B-353993CC6F1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8F61884-5DB7-AFF1-AC44-CB3D0125884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DE9E223-0700-EC5F-EF6E-9486B4033B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813754-9A25-47D4-9FAB-978691EE5414}" type="datetimeFigureOut">
              <a:rPr lang="en-IN" smtClean="0"/>
              <a:t>31/05/25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9201838-ABE5-FB13-6AAB-AECD138DCB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983C056-B662-0E22-CA63-A59186641C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AE71E0-9C8B-422F-B71B-FB6AD28DC5C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993405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5C610E-FC06-8B9F-2E72-ECD91F7169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F0AD868-D0B5-5211-1EE7-91756411D4C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45186D5-8B09-CB3B-653B-6B192C26CB1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6E6D81E-BB2F-D021-C01C-891B63CF1A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813754-9A25-47D4-9FAB-978691EE5414}" type="datetimeFigureOut">
              <a:rPr lang="en-IN" smtClean="0"/>
              <a:t>31/05/25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8B1A2AC-D2BE-3FD9-CB36-D39EB66F17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DF84852-0776-36C0-381B-AEBD76992A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AE71E0-9C8B-422F-B71B-FB6AD28DC5C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8034708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EEF807-180D-C9B8-AC3E-61A52919D7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BA913B2-59CB-D028-35E2-5039E9D3254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7529640-3A2A-F1C6-7A03-487418EC38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813754-9A25-47D4-9FAB-978691EE5414}" type="datetimeFigureOut">
              <a:rPr lang="en-IN" smtClean="0"/>
              <a:t>31/05/25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7818B2-9ADA-02F1-E51F-F9F947963E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0E0EDBF-0A95-5D3D-2A70-DB682E5857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AE71E0-9C8B-422F-B71B-FB6AD28DC5C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9443583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289BE3B-8AE0-DB37-07ED-70A20806234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C856E3D-1338-1E7B-F015-5451CCC4393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E7B957-3AD4-0FDF-19A1-7B5395FC06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813754-9A25-47D4-9FAB-978691EE5414}" type="datetimeFigureOut">
              <a:rPr lang="en-IN" smtClean="0"/>
              <a:t>31/05/25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6EE2D41-2360-CEB7-E9A6-EDBA7340A8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D4FE4AE-85F9-5D6C-3019-73D1DF4A7A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AE71E0-9C8B-422F-B71B-FB6AD28DC5C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009481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FAC6421-95D9-5C94-7276-AA04FC73CB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20E0C69-A236-63B6-5E6F-0D19128A931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DD28FF8-D244-AF1F-4CF3-757BB8092EE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E813754-9A25-47D4-9FAB-978691EE5414}" type="datetimeFigureOut">
              <a:rPr lang="en-IN" smtClean="0"/>
              <a:t>31/05/25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283EC21-D1FC-774C-E427-9059B29A824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6C27449-35F1-22AC-2D4A-C64CCFB1111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8AE71E0-9C8B-422F-B71B-FB6AD28DC5C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430408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comments" Target="../comments/comment1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F6665553-AFD9-2019-5D8A-91918BBAE2AB}"/>
              </a:ext>
            </a:extLst>
          </p:cNvPr>
          <p:cNvSpPr txBox="1"/>
          <p:nvPr/>
        </p:nvSpPr>
        <p:spPr>
          <a:xfrm>
            <a:off x="2075468" y="2337848"/>
            <a:ext cx="8041064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dirty="0"/>
              <a:t>MARKETING MANAGEMENT </a:t>
            </a:r>
            <a:br>
              <a:rPr lang="en-US" sz="3600" dirty="0"/>
            </a:br>
            <a:r>
              <a:rPr lang="en-US" sz="3600" dirty="0"/>
              <a:t>SECTION-B</a:t>
            </a:r>
          </a:p>
          <a:p>
            <a:pPr algn="ctr"/>
            <a:r>
              <a:rPr lang="en-US" sz="3600" dirty="0"/>
              <a:t>GROUP -3</a:t>
            </a:r>
            <a:endParaRPr lang="en-IN" sz="3600" dirty="0"/>
          </a:p>
        </p:txBody>
      </p:sp>
    </p:spTree>
    <p:extLst>
      <p:ext uri="{BB962C8B-B14F-4D97-AF65-F5344CB8AC3E}">
        <p14:creationId xmlns:p14="http://schemas.microsoft.com/office/powerpoint/2010/main" val="16812899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B4B8CF-0223-5D40-D307-14389F9D63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68B2E4CD-E792-6AAC-66F4-81A5248D8165}"/>
              </a:ext>
            </a:extLst>
          </p:cNvPr>
          <p:cNvSpPr txBox="1"/>
          <p:nvPr/>
        </p:nvSpPr>
        <p:spPr>
          <a:xfrm>
            <a:off x="2075468" y="311085"/>
            <a:ext cx="804106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/>
              <a:t>MARKETING OBJECTIVE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22A52CB-8B3B-CE4D-0B87-5DB11EA418A4}"/>
              </a:ext>
            </a:extLst>
          </p:cNvPr>
          <p:cNvSpPr txBox="1"/>
          <p:nvPr/>
        </p:nvSpPr>
        <p:spPr>
          <a:xfrm>
            <a:off x="2202426" y="1597729"/>
            <a:ext cx="7787148" cy="39746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z="2400" b="1" i="0" u="none" strike="noStrike" dirty="0">
                <a:solidFill>
                  <a:srgbClr val="000000"/>
                </a:solidFill>
                <a:effectLst/>
              </a:rPr>
              <a:t>Expand</a:t>
            </a:r>
            <a:r>
              <a:rPr lang="en-US" sz="2400" b="0" i="0" u="none" strike="noStrike" dirty="0">
                <a:solidFill>
                  <a:srgbClr val="000000"/>
                </a:solidFill>
                <a:effectLst/>
              </a:rPr>
              <a:t> – Growth via new outlets</a:t>
            </a:r>
            <a:endParaRPr lang="en-US" sz="2400" b="0" dirty="0">
              <a:effectLst/>
            </a:endParaRPr>
          </a:p>
          <a:p>
            <a:pPr rtl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z="2400" b="1" i="0" u="none" strike="noStrike" dirty="0">
                <a:solidFill>
                  <a:srgbClr val="000000"/>
                </a:solidFill>
                <a:effectLst/>
              </a:rPr>
              <a:t>Reach</a:t>
            </a:r>
            <a:r>
              <a:rPr lang="en-US" sz="2400" b="0" i="0" u="none" strike="noStrike" dirty="0">
                <a:solidFill>
                  <a:srgbClr val="000000"/>
                </a:solidFill>
                <a:effectLst/>
              </a:rPr>
              <a:t> – Attract new customer segments</a:t>
            </a:r>
            <a:endParaRPr lang="en-US" sz="2400" dirty="0">
              <a:solidFill>
                <a:srgbClr val="000000"/>
              </a:solidFill>
            </a:endParaRPr>
          </a:p>
          <a:p>
            <a:pPr rtl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z="2400" b="1" i="0" u="none" strike="noStrike" dirty="0">
                <a:solidFill>
                  <a:srgbClr val="000000"/>
                </a:solidFill>
                <a:effectLst/>
              </a:rPr>
              <a:t>Engage</a:t>
            </a:r>
            <a:r>
              <a:rPr lang="en-US" sz="2400" b="0" i="0" u="none" strike="noStrike" dirty="0">
                <a:solidFill>
                  <a:srgbClr val="000000"/>
                </a:solidFill>
                <a:effectLst/>
              </a:rPr>
              <a:t> – Increase interaction through loyalty</a:t>
            </a:r>
            <a:endParaRPr lang="en-US" sz="2400" dirty="0">
              <a:solidFill>
                <a:srgbClr val="000000"/>
              </a:solidFill>
            </a:endParaRPr>
          </a:p>
          <a:p>
            <a:pPr rtl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z="2400" b="1" i="0" u="none" strike="noStrike" dirty="0">
                <a:solidFill>
                  <a:srgbClr val="000000"/>
                </a:solidFill>
                <a:effectLst/>
              </a:rPr>
              <a:t>Experience</a:t>
            </a:r>
            <a:r>
              <a:rPr lang="en-US" sz="2400" b="0" i="0" u="none" strike="noStrike" dirty="0">
                <a:solidFill>
                  <a:srgbClr val="000000"/>
                </a:solidFill>
                <a:effectLst/>
              </a:rPr>
              <a:t> – Improve overall customer satisfaction</a:t>
            </a:r>
            <a:endParaRPr lang="en-US" sz="2400" b="0" dirty="0">
              <a:effectLst/>
            </a:endParaRPr>
          </a:p>
          <a:p>
            <a:pPr>
              <a:lnSpc>
                <a:spcPct val="150000"/>
              </a:lnSpc>
              <a:buNone/>
            </a:pPr>
            <a:br>
              <a:rPr lang="en-US" sz="2400" b="0" dirty="0">
                <a:effectLst/>
              </a:rPr>
            </a:br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329075182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F6C229-0944-4391-1303-4B7DCE0ADA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6814A845-26C6-4CDE-3AB5-2B1C669BA9B9}"/>
              </a:ext>
            </a:extLst>
          </p:cNvPr>
          <p:cNvSpPr txBox="1"/>
          <p:nvPr/>
        </p:nvSpPr>
        <p:spPr>
          <a:xfrm>
            <a:off x="2075468" y="311085"/>
            <a:ext cx="804106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/>
              <a:t>COMPANY 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714004B-F83E-8E7C-B91C-092C230EABB3}"/>
              </a:ext>
            </a:extLst>
          </p:cNvPr>
          <p:cNvSpPr txBox="1"/>
          <p:nvPr/>
        </p:nvSpPr>
        <p:spPr>
          <a:xfrm>
            <a:off x="1948713" y="1800520"/>
            <a:ext cx="8294574" cy="22510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400" b="1" dirty="0"/>
              <a:t>Customization</a:t>
            </a:r>
            <a:r>
              <a:rPr lang="en-US" sz="2400" dirty="0"/>
              <a:t>: Custom blends crafted for satisfaction </a:t>
            </a:r>
          </a:p>
          <a:p>
            <a:pPr>
              <a:lnSpc>
                <a:spcPct val="150000"/>
              </a:lnSpc>
            </a:pPr>
            <a:r>
              <a:rPr lang="en-US" sz="2400" b="1" dirty="0"/>
              <a:t>Premium</a:t>
            </a:r>
            <a:r>
              <a:rPr lang="en-US" sz="2400" dirty="0"/>
              <a:t>: Experience that feels like home</a:t>
            </a:r>
          </a:p>
          <a:p>
            <a:pPr>
              <a:lnSpc>
                <a:spcPct val="150000"/>
              </a:lnSpc>
            </a:pPr>
            <a:r>
              <a:rPr lang="en-US" sz="2400" b="1" dirty="0"/>
              <a:t>Tech-enabled</a:t>
            </a:r>
            <a:r>
              <a:rPr lang="en-US" sz="2400" dirty="0"/>
              <a:t>: IoT powered bot named </a:t>
            </a:r>
            <a:r>
              <a:rPr lang="en-US" sz="2400" dirty="0" err="1"/>
              <a:t>ChaiMonk</a:t>
            </a:r>
            <a:endParaRPr lang="en-US" sz="2400" dirty="0"/>
          </a:p>
          <a:p>
            <a:pPr>
              <a:lnSpc>
                <a:spcPct val="150000"/>
              </a:lnSpc>
            </a:pPr>
            <a:r>
              <a:rPr lang="en-US" sz="2400" b="1" dirty="0"/>
              <a:t>Inclusion</a:t>
            </a:r>
            <a:r>
              <a:rPr lang="en-US" sz="2400" dirty="0"/>
              <a:t>: Catering various cultures across India</a:t>
            </a:r>
          </a:p>
        </p:txBody>
      </p:sp>
    </p:spTree>
    <p:extLst>
      <p:ext uri="{BB962C8B-B14F-4D97-AF65-F5344CB8AC3E}">
        <p14:creationId xmlns:p14="http://schemas.microsoft.com/office/powerpoint/2010/main" val="388786609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9FA88E-7B60-9C58-4581-D3CE6DB20A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E6706043-6F56-1336-DDA9-8D17AFC4584E}"/>
              </a:ext>
            </a:extLst>
          </p:cNvPr>
          <p:cNvSpPr txBox="1"/>
          <p:nvPr/>
        </p:nvSpPr>
        <p:spPr>
          <a:xfrm>
            <a:off x="2075468" y="311085"/>
            <a:ext cx="804106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/>
              <a:t>COLLABORATORS 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5E0279E9-E6C1-C9E7-FFAB-57272174C32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11457711"/>
              </p:ext>
            </p:extLst>
          </p:nvPr>
        </p:nvGraphicFramePr>
        <p:xfrm>
          <a:off x="1467439" y="1038387"/>
          <a:ext cx="9257121" cy="53306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3085707">
                  <a:extLst>
                    <a:ext uri="{9D8B030D-6E8A-4147-A177-3AD203B41FA5}">
                      <a16:colId xmlns:a16="http://schemas.microsoft.com/office/drawing/2014/main" val="1890873953"/>
                    </a:ext>
                  </a:extLst>
                </a:gridCol>
                <a:gridCol w="3085707">
                  <a:extLst>
                    <a:ext uri="{9D8B030D-6E8A-4147-A177-3AD203B41FA5}">
                      <a16:colId xmlns:a16="http://schemas.microsoft.com/office/drawing/2014/main" val="3980339459"/>
                    </a:ext>
                  </a:extLst>
                </a:gridCol>
                <a:gridCol w="3085707">
                  <a:extLst>
                    <a:ext uri="{9D8B030D-6E8A-4147-A177-3AD203B41FA5}">
                      <a16:colId xmlns:a16="http://schemas.microsoft.com/office/drawing/2014/main" val="3139082193"/>
                    </a:ext>
                  </a:extLst>
                </a:gridCol>
              </a:tblGrid>
              <a:tr h="53306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DISTRIBUTOR</a:t>
                      </a:r>
                      <a:endParaRPr lang="en-IN" dirty="0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INVESTOR</a:t>
                      </a:r>
                      <a:endParaRPr lang="en-IN" dirty="0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MEDIA AGENCY</a:t>
                      </a:r>
                      <a:endParaRPr lang="en-IN" dirty="0"/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70679486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0521160A-483B-1268-D519-B10A04F7714E}"/>
              </a:ext>
            </a:extLst>
          </p:cNvPr>
          <p:cNvSpPr txBox="1"/>
          <p:nvPr/>
        </p:nvSpPr>
        <p:spPr>
          <a:xfrm>
            <a:off x="1677971" y="1806076"/>
            <a:ext cx="2158737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Delivery Partners </a:t>
            </a:r>
          </a:p>
          <a:p>
            <a:pPr algn="ctr"/>
            <a:r>
              <a:rPr lang="en-US" sz="2400" dirty="0"/>
              <a:t>In-house App </a:t>
            </a:r>
          </a:p>
          <a:p>
            <a:pPr algn="ctr"/>
            <a:r>
              <a:rPr lang="en-US" sz="2400" dirty="0"/>
              <a:t>IRCTC</a:t>
            </a:r>
          </a:p>
          <a:p>
            <a:pPr algn="ctr"/>
            <a:r>
              <a:rPr lang="en-US" sz="2400" dirty="0"/>
              <a:t>Airlines</a:t>
            </a:r>
          </a:p>
          <a:p>
            <a:pPr algn="ctr"/>
            <a:endParaRPr lang="en-US" sz="24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694839E-10A7-CAFB-5EBC-C40C9689B145}"/>
              </a:ext>
            </a:extLst>
          </p:cNvPr>
          <p:cNvSpPr txBox="1"/>
          <p:nvPr/>
        </p:nvSpPr>
        <p:spPr>
          <a:xfrm>
            <a:off x="6059342" y="1725105"/>
            <a:ext cx="21587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105E5C1-52BC-F7F6-C253-9016DB17C496}"/>
              </a:ext>
            </a:extLst>
          </p:cNvPr>
          <p:cNvSpPr txBox="1"/>
          <p:nvPr/>
        </p:nvSpPr>
        <p:spPr>
          <a:xfrm>
            <a:off x="3900605" y="1725105"/>
            <a:ext cx="21587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8C0296A-072D-6A37-A0C8-2560F8D0776D}"/>
              </a:ext>
            </a:extLst>
          </p:cNvPr>
          <p:cNvSpPr txBox="1"/>
          <p:nvPr/>
        </p:nvSpPr>
        <p:spPr>
          <a:xfrm>
            <a:off x="4458878" y="1806076"/>
            <a:ext cx="3167407" cy="41549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400" dirty="0"/>
              <a:t>Tiger Global Management - 17.6%</a:t>
            </a:r>
          </a:p>
          <a:p>
            <a:pPr algn="ctr"/>
            <a:r>
              <a:rPr lang="en-IN" sz="2400" dirty="0"/>
              <a:t>Elevation Capital - 16.4%</a:t>
            </a:r>
            <a:endParaRPr lang="en-IN" sz="2400" b="0" dirty="0">
              <a:effectLst/>
            </a:endParaRPr>
          </a:p>
          <a:p>
            <a:pPr algn="ctr"/>
            <a:r>
              <a:rPr lang="en-IN" sz="2400" dirty="0"/>
              <a:t>Alpha Wave global - 13.4%</a:t>
            </a:r>
            <a:endParaRPr lang="en-IN" sz="2400" b="0" dirty="0">
              <a:effectLst/>
            </a:endParaRPr>
          </a:p>
          <a:p>
            <a:pPr algn="ctr"/>
            <a:r>
              <a:rPr lang="en-IN" sz="2400" dirty="0"/>
              <a:t>Enterprise - 12.7%</a:t>
            </a:r>
            <a:endParaRPr lang="en-IN" sz="2400" b="0" dirty="0">
              <a:effectLst/>
            </a:endParaRPr>
          </a:p>
          <a:p>
            <a:pPr algn="ctr"/>
            <a:br>
              <a:rPr lang="en-IN" sz="2400" dirty="0"/>
            </a:br>
            <a:endParaRPr lang="en-IN" sz="2400" b="0" dirty="0">
              <a:effectLst/>
            </a:endParaRPr>
          </a:p>
          <a:p>
            <a:pPr algn="ctr"/>
            <a:br>
              <a:rPr lang="en-IN" sz="2400" dirty="0"/>
            </a:br>
            <a:endParaRPr lang="en-US" sz="2400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4DE6C7F-1045-217B-B59E-E662D1DE4F34}"/>
              </a:ext>
            </a:extLst>
          </p:cNvPr>
          <p:cNvSpPr txBox="1"/>
          <p:nvPr/>
        </p:nvSpPr>
        <p:spPr>
          <a:xfrm>
            <a:off x="7812725" y="1652418"/>
            <a:ext cx="2811283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400" dirty="0" err="1"/>
              <a:t>Iprospect</a:t>
            </a:r>
            <a:r>
              <a:rPr lang="en-IN" sz="2400" dirty="0"/>
              <a:t> India</a:t>
            </a:r>
          </a:p>
          <a:p>
            <a:pPr algn="ctr"/>
            <a:r>
              <a:rPr lang="en-IN" sz="2400" dirty="0"/>
              <a:t>ODN Digital Services</a:t>
            </a:r>
            <a:endParaRPr lang="en-IN" sz="2400" b="0" dirty="0">
              <a:effectLst/>
            </a:endParaRPr>
          </a:p>
          <a:p>
            <a:pPr algn="ctr"/>
            <a:r>
              <a:rPr lang="en-IN" sz="2400" dirty="0" err="1"/>
              <a:t>Wondrlab</a:t>
            </a:r>
            <a:endParaRPr lang="en-IN" sz="2400" b="0" dirty="0">
              <a:effectLst/>
            </a:endParaRPr>
          </a:p>
          <a:p>
            <a:pPr algn="ctr"/>
            <a:r>
              <a:rPr lang="en-IN" sz="2400" dirty="0"/>
              <a:t>YOSO Media</a:t>
            </a:r>
            <a:endParaRPr lang="en-IN" sz="2400" b="0" dirty="0">
              <a:effectLst/>
            </a:endParaRPr>
          </a:p>
          <a:p>
            <a:pPr algn="ctr"/>
            <a:br>
              <a:rPr lang="en-IN" sz="2400" dirty="0"/>
            </a:br>
            <a:endParaRPr lang="en-US" sz="2400" dirty="0"/>
          </a:p>
          <a:p>
            <a:pPr algn="ctr"/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51531464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7C5C04-C297-0CCB-8B82-4D87B789E9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31BFE63B-2090-3351-F363-4A73A52E9A84}"/>
              </a:ext>
            </a:extLst>
          </p:cNvPr>
          <p:cNvSpPr txBox="1"/>
          <p:nvPr/>
        </p:nvSpPr>
        <p:spPr>
          <a:xfrm>
            <a:off x="2075468" y="311085"/>
            <a:ext cx="804106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/>
              <a:t>COMPETITORS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7A6F430A-8AEC-8A07-DBA3-E93E1DC7209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24709240"/>
              </p:ext>
            </p:extLst>
          </p:nvPr>
        </p:nvGraphicFramePr>
        <p:xfrm>
          <a:off x="599767" y="1111045"/>
          <a:ext cx="10992466" cy="4973988"/>
        </p:xfrm>
        <a:graphic>
          <a:graphicData uri="http://schemas.openxmlformats.org/drawingml/2006/table">
            <a:tbl>
              <a:tblPr/>
              <a:tblGrid>
                <a:gridCol w="2867599">
                  <a:extLst>
                    <a:ext uri="{9D8B030D-6E8A-4147-A177-3AD203B41FA5}">
                      <a16:colId xmlns:a16="http://schemas.microsoft.com/office/drawing/2014/main" val="81003157"/>
                    </a:ext>
                  </a:extLst>
                </a:gridCol>
                <a:gridCol w="2245176">
                  <a:extLst>
                    <a:ext uri="{9D8B030D-6E8A-4147-A177-3AD203B41FA5}">
                      <a16:colId xmlns:a16="http://schemas.microsoft.com/office/drawing/2014/main" val="2245713437"/>
                    </a:ext>
                  </a:extLst>
                </a:gridCol>
                <a:gridCol w="2005781">
                  <a:extLst>
                    <a:ext uri="{9D8B030D-6E8A-4147-A177-3AD203B41FA5}">
                      <a16:colId xmlns:a16="http://schemas.microsoft.com/office/drawing/2014/main" val="568242629"/>
                    </a:ext>
                  </a:extLst>
                </a:gridCol>
                <a:gridCol w="2068384">
                  <a:extLst>
                    <a:ext uri="{9D8B030D-6E8A-4147-A177-3AD203B41FA5}">
                      <a16:colId xmlns:a16="http://schemas.microsoft.com/office/drawing/2014/main" val="3420891478"/>
                    </a:ext>
                  </a:extLst>
                </a:gridCol>
                <a:gridCol w="1805526">
                  <a:extLst>
                    <a:ext uri="{9D8B030D-6E8A-4147-A177-3AD203B41FA5}">
                      <a16:colId xmlns:a16="http://schemas.microsoft.com/office/drawing/2014/main" val="2121322009"/>
                    </a:ext>
                  </a:extLst>
                </a:gridCol>
              </a:tblGrid>
              <a:tr h="1068588"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IN" sz="2400" b="1" i="0" u="none" strike="noStrike" dirty="0"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FEATURES/BRAND</a:t>
                      </a:r>
                      <a:endParaRPr lang="en-IN" sz="2400" dirty="0">
                        <a:solidFill>
                          <a:schemeClr val="bg1"/>
                        </a:solidFill>
                        <a:effectLst/>
                        <a:latin typeface="+mn-lt"/>
                      </a:endParaRPr>
                    </a:p>
                  </a:txBody>
                  <a:tcPr marL="76200" marR="76200" marT="76200" marB="76200">
                    <a:lnL w="762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IN" sz="2400" b="1" i="0" u="none" strike="noStrike" dirty="0"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CHAAYOS</a:t>
                      </a:r>
                      <a:endParaRPr lang="en-IN" sz="2400" dirty="0">
                        <a:solidFill>
                          <a:schemeClr val="bg1"/>
                        </a:solidFill>
                        <a:effectLst/>
                        <a:latin typeface="+mn-lt"/>
                      </a:endParaRPr>
                    </a:p>
                  </a:txBody>
                  <a:tcPr marL="76200" marR="76200" marT="76200" marB="76200">
                    <a:lnL w="762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IN" sz="2400" b="1" i="0" u="none" strike="noStrike" dirty="0"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CHAI POINT</a:t>
                      </a:r>
                      <a:endParaRPr lang="en-IN" sz="2400" dirty="0">
                        <a:solidFill>
                          <a:schemeClr val="bg1"/>
                        </a:solidFill>
                        <a:effectLst/>
                        <a:latin typeface="+mn-lt"/>
                      </a:endParaRPr>
                    </a:p>
                  </a:txBody>
                  <a:tcPr marL="76200" marR="76200" marT="76200" marB="76200">
                    <a:lnL w="762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IN" sz="2400" b="1" i="0" u="none" strike="noStrike" dirty="0"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MBA CHAIWALA</a:t>
                      </a:r>
                      <a:endParaRPr lang="en-IN" sz="2400" dirty="0">
                        <a:solidFill>
                          <a:schemeClr val="bg1"/>
                        </a:solidFill>
                        <a:effectLst/>
                        <a:latin typeface="+mn-lt"/>
                      </a:endParaRPr>
                    </a:p>
                  </a:txBody>
                  <a:tcPr marL="76200" marR="76200" marT="76200" marB="76200">
                    <a:lnL w="762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IN" sz="2400" b="1" i="0" u="none" strike="noStrike" dirty="0"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CHAI SUTTA BAR</a:t>
                      </a:r>
                      <a:endParaRPr lang="en-IN" sz="2400" dirty="0">
                        <a:solidFill>
                          <a:schemeClr val="bg1"/>
                        </a:solidFill>
                        <a:effectLst/>
                        <a:latin typeface="+mn-lt"/>
                      </a:endParaRPr>
                    </a:p>
                  </a:txBody>
                  <a:tcPr marL="76200" marR="76200" marT="76200" marB="76200">
                    <a:lnL w="762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84048424"/>
                  </a:ext>
                </a:extLst>
              </a:tr>
              <a:tr h="945604"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IN" sz="2400" b="1" i="0" u="none" strike="noStrike" dirty="0"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CORE BEVERAGE </a:t>
                      </a:r>
                      <a:endParaRPr lang="en-IN" sz="2400" dirty="0">
                        <a:solidFill>
                          <a:schemeClr val="bg1"/>
                        </a:solidFill>
                        <a:effectLst/>
                        <a:latin typeface="+mn-lt"/>
                      </a:endParaRPr>
                    </a:p>
                  </a:txBody>
                  <a:tcPr marL="76200" marR="76200" marT="76200" marB="76200">
                    <a:lnL w="762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IN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Tea</a:t>
                      </a:r>
                    </a:p>
                    <a:p>
                      <a:pPr algn="ctr" rtl="0" fontAlgn="t">
                        <a:buNone/>
                      </a:pPr>
                      <a:r>
                        <a:rPr lang="en-IN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(customized)</a:t>
                      </a:r>
                      <a:endParaRPr lang="en-IN" sz="2400" dirty="0">
                        <a:effectLst/>
                        <a:latin typeface="+mn-lt"/>
                      </a:endParaRPr>
                    </a:p>
                  </a:txBody>
                  <a:tcPr marL="76200" marR="76200" marT="76200" marB="76200">
                    <a:lnL w="762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IN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Tea</a:t>
                      </a:r>
                    </a:p>
                    <a:p>
                      <a:pPr algn="ctr" rtl="0" fontAlgn="t">
                        <a:buNone/>
                      </a:pPr>
                      <a:r>
                        <a:rPr lang="en-IN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(standardized)</a:t>
                      </a:r>
                      <a:endParaRPr lang="en-IN" sz="2400" dirty="0">
                        <a:effectLst/>
                        <a:latin typeface="+mn-lt"/>
                      </a:endParaRPr>
                    </a:p>
                  </a:txBody>
                  <a:tcPr marL="76200" marR="76200" marT="76200" marB="76200">
                    <a:lnL w="762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IN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Tea</a:t>
                      </a:r>
                    </a:p>
                    <a:p>
                      <a:pPr algn="ctr" rtl="0" fontAlgn="t">
                        <a:buNone/>
                      </a:pPr>
                      <a:r>
                        <a:rPr lang="en-IN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(standardized)</a:t>
                      </a:r>
                      <a:endParaRPr lang="en-IN" sz="2400" dirty="0">
                        <a:effectLst/>
                        <a:latin typeface="+mn-lt"/>
                      </a:endParaRPr>
                    </a:p>
                  </a:txBody>
                  <a:tcPr marL="76200" marR="76200" marT="76200" marB="76200">
                    <a:lnL w="762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IN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Tea</a:t>
                      </a:r>
                      <a:endParaRPr lang="en-IN" sz="2400" dirty="0">
                        <a:effectLst/>
                        <a:latin typeface="+mn-lt"/>
                      </a:endParaRPr>
                    </a:p>
                  </a:txBody>
                  <a:tcPr marL="76200" marR="76200" marT="76200" marB="76200">
                    <a:lnL w="762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82912101"/>
                  </a:ext>
                </a:extLst>
              </a:tr>
              <a:tr h="945604"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IN" sz="2400" b="1" i="0" u="none" strike="noStrike" dirty="0"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CHAI CUSTOMIZATION</a:t>
                      </a:r>
                      <a:endParaRPr lang="en-IN" sz="2400" dirty="0">
                        <a:solidFill>
                          <a:schemeClr val="bg1"/>
                        </a:solidFill>
                        <a:effectLst/>
                        <a:latin typeface="+mn-lt"/>
                      </a:endParaRPr>
                    </a:p>
                  </a:txBody>
                  <a:tcPr marL="76200" marR="76200" marT="76200" marB="76200">
                    <a:lnL w="762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IN" sz="24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High Variety</a:t>
                      </a:r>
                      <a:endParaRPr lang="en-IN" sz="2400">
                        <a:effectLst/>
                        <a:latin typeface="+mn-lt"/>
                      </a:endParaRPr>
                    </a:p>
                  </a:txBody>
                  <a:tcPr marL="76200" marR="76200" marT="76200" marB="76200">
                    <a:lnL w="762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IN" sz="24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Limited</a:t>
                      </a:r>
                      <a:endParaRPr lang="en-IN" sz="2400">
                        <a:effectLst/>
                        <a:latin typeface="+mn-lt"/>
                      </a:endParaRPr>
                    </a:p>
                  </a:txBody>
                  <a:tcPr marL="76200" marR="76200" marT="76200" marB="76200">
                    <a:lnL w="762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IN" sz="24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Limited</a:t>
                      </a:r>
                      <a:endParaRPr lang="en-IN" sz="2400">
                        <a:effectLst/>
                        <a:latin typeface="+mn-lt"/>
                      </a:endParaRPr>
                    </a:p>
                  </a:txBody>
                  <a:tcPr marL="76200" marR="76200" marT="76200" marB="76200">
                    <a:lnL w="762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IN" sz="24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Limited Options</a:t>
                      </a:r>
                      <a:endParaRPr lang="en-IN" sz="2400">
                        <a:effectLst/>
                        <a:latin typeface="+mn-lt"/>
                      </a:endParaRPr>
                    </a:p>
                  </a:txBody>
                  <a:tcPr marL="76200" marR="76200" marT="76200" marB="76200">
                    <a:lnL w="762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3678692"/>
                  </a:ext>
                </a:extLst>
              </a:tr>
              <a:tr h="1068588"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IN" sz="2400" b="1" i="0" u="none" strike="noStrike" dirty="0"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TARGET AUDIENCE</a:t>
                      </a:r>
                      <a:endParaRPr lang="en-IN" sz="2400" dirty="0">
                        <a:solidFill>
                          <a:schemeClr val="bg1"/>
                        </a:solidFill>
                        <a:effectLst/>
                        <a:latin typeface="+mn-lt"/>
                      </a:endParaRPr>
                    </a:p>
                  </a:txBody>
                  <a:tcPr marL="76200" marR="76200" marT="76200" marB="76200">
                    <a:lnL w="762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IN" sz="24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Urban Millennials</a:t>
                      </a:r>
                      <a:endParaRPr lang="en-IN" sz="2400">
                        <a:effectLst/>
                        <a:latin typeface="+mn-lt"/>
                      </a:endParaRPr>
                    </a:p>
                  </a:txBody>
                  <a:tcPr marL="76200" marR="76200" marT="76200" marB="76200">
                    <a:lnL w="762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IN" sz="24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Corporates</a:t>
                      </a:r>
                      <a:endParaRPr lang="en-IN" sz="2400">
                        <a:effectLst/>
                        <a:latin typeface="+mn-lt"/>
                      </a:endParaRPr>
                    </a:p>
                  </a:txBody>
                  <a:tcPr marL="76200" marR="76200" marT="76200" marB="76200">
                    <a:lnL w="762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IN" sz="24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Young Professionals</a:t>
                      </a:r>
                      <a:endParaRPr lang="en-IN" sz="2400">
                        <a:effectLst/>
                        <a:latin typeface="+mn-lt"/>
                      </a:endParaRPr>
                    </a:p>
                  </a:txBody>
                  <a:tcPr marL="76200" marR="76200" marT="76200" marB="76200">
                    <a:lnL w="762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IN" sz="24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Students</a:t>
                      </a:r>
                      <a:endParaRPr lang="en-IN" sz="2400">
                        <a:effectLst/>
                        <a:latin typeface="+mn-lt"/>
                      </a:endParaRPr>
                    </a:p>
                  </a:txBody>
                  <a:tcPr marL="76200" marR="76200" marT="76200" marB="76200">
                    <a:lnL w="762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45621807"/>
                  </a:ext>
                </a:extLst>
              </a:tr>
              <a:tr h="945604"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IN" sz="2400" b="1" i="0" u="none" strike="noStrike" dirty="0"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PRICE POSITIONING</a:t>
                      </a:r>
                      <a:endParaRPr lang="en-IN" sz="2400" dirty="0">
                        <a:solidFill>
                          <a:schemeClr val="bg1"/>
                        </a:solidFill>
                        <a:effectLst/>
                        <a:latin typeface="+mn-lt"/>
                      </a:endParaRPr>
                    </a:p>
                  </a:txBody>
                  <a:tcPr marL="76200" marR="76200" marT="76200" marB="76200">
                    <a:lnL w="762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IN" sz="24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Mid-to-Premium</a:t>
                      </a:r>
                      <a:endParaRPr lang="en-IN" sz="2400">
                        <a:effectLst/>
                        <a:latin typeface="+mn-lt"/>
                      </a:endParaRPr>
                    </a:p>
                  </a:txBody>
                  <a:tcPr marL="76200" marR="76200" marT="76200" marB="76200">
                    <a:lnL w="762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IN" sz="24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Affordable to mid</a:t>
                      </a:r>
                      <a:endParaRPr lang="en-IN" sz="2400">
                        <a:effectLst/>
                        <a:latin typeface="+mn-lt"/>
                      </a:endParaRPr>
                    </a:p>
                  </a:txBody>
                  <a:tcPr marL="76200" marR="76200" marT="76200" marB="76200">
                    <a:lnL w="762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IN" sz="24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Budget</a:t>
                      </a:r>
                      <a:endParaRPr lang="en-IN" sz="2400">
                        <a:effectLst/>
                        <a:latin typeface="+mn-lt"/>
                      </a:endParaRPr>
                    </a:p>
                  </a:txBody>
                  <a:tcPr marL="76200" marR="76200" marT="76200" marB="76200">
                    <a:lnL w="762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IN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Budget</a:t>
                      </a:r>
                      <a:endParaRPr lang="en-IN" sz="2400" dirty="0">
                        <a:effectLst/>
                        <a:latin typeface="+mn-lt"/>
                      </a:endParaRPr>
                    </a:p>
                  </a:txBody>
                  <a:tcPr marL="76200" marR="76200" marT="76200" marB="76200">
                    <a:lnL w="762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33631174"/>
                  </a:ext>
                </a:extLst>
              </a:tr>
            </a:tbl>
          </a:graphicData>
        </a:graphic>
      </p:graphicFrame>
      <p:sp>
        <p:nvSpPr>
          <p:cNvPr id="6" name="Rectangle 2">
            <a:extLst>
              <a:ext uri="{FF2B5EF4-FFF2-40B4-BE49-F238E27FC236}">
                <a16:creationId xmlns:a16="http://schemas.microsoft.com/office/drawing/2014/main" id="{6E3A8A97-D7A5-B0F8-3506-241B9FE3621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41638" y="2339975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0659084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0258DC-109F-0015-74F8-B7D16FBF97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B9D8B083-F8E8-2306-B429-CAF2A815D57B}"/>
              </a:ext>
            </a:extLst>
          </p:cNvPr>
          <p:cNvSpPr txBox="1"/>
          <p:nvPr/>
        </p:nvSpPr>
        <p:spPr>
          <a:xfrm>
            <a:off x="2075468" y="311085"/>
            <a:ext cx="804106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/>
              <a:t>CUSTOMERS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3C21937-F3DF-EA33-E012-D73F44AF20BC}"/>
              </a:ext>
            </a:extLst>
          </p:cNvPr>
          <p:cNvSpPr txBox="1"/>
          <p:nvPr/>
        </p:nvSpPr>
        <p:spPr>
          <a:xfrm>
            <a:off x="1386348" y="1169301"/>
            <a:ext cx="9212826" cy="60631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0">
              <a:spcAft>
                <a:spcPts val="1200"/>
              </a:spcAft>
              <a:buNone/>
            </a:pPr>
            <a:r>
              <a:rPr lang="en-IN" sz="2400" b="1" i="0" u="none" strike="noStrike" dirty="0">
                <a:solidFill>
                  <a:srgbClr val="000000"/>
                </a:solidFill>
                <a:effectLst/>
              </a:rPr>
              <a:t>Demographics</a:t>
            </a:r>
            <a:endParaRPr lang="en-IN" sz="2400" b="0" dirty="0">
              <a:effectLst/>
            </a:endParaRPr>
          </a:p>
          <a:p>
            <a:pPr rtl="0">
              <a:spcAft>
                <a:spcPts val="1200"/>
              </a:spcAft>
              <a:buNone/>
            </a:pPr>
            <a:r>
              <a:rPr lang="en-IN" sz="2400" b="0" i="0" u="none" strike="noStrike" dirty="0">
                <a:solidFill>
                  <a:srgbClr val="000000"/>
                </a:solidFill>
                <a:effectLst/>
              </a:rPr>
              <a:t>Target Audience: 22-40 yrs</a:t>
            </a:r>
            <a:endParaRPr lang="en-IN" sz="2400" b="0" dirty="0">
              <a:effectLst/>
            </a:endParaRPr>
          </a:p>
          <a:p>
            <a:pPr rtl="0">
              <a:spcAft>
                <a:spcPts val="1200"/>
              </a:spcAft>
              <a:buNone/>
            </a:pPr>
            <a:r>
              <a:rPr lang="en-IN" sz="2400" b="0" i="0" u="none" strike="noStrike" dirty="0">
                <a:solidFill>
                  <a:srgbClr val="000000"/>
                </a:solidFill>
                <a:effectLst/>
              </a:rPr>
              <a:t>Location: Tier-1 Cities</a:t>
            </a:r>
            <a:endParaRPr lang="en-IN" sz="2400" b="0" dirty="0">
              <a:effectLst/>
            </a:endParaRPr>
          </a:p>
          <a:p>
            <a:pPr rtl="0">
              <a:spcAft>
                <a:spcPts val="1200"/>
              </a:spcAft>
              <a:buNone/>
            </a:pPr>
            <a:r>
              <a:rPr lang="en-IN" sz="2400" b="0" i="0" u="none" strike="noStrike" dirty="0">
                <a:solidFill>
                  <a:srgbClr val="000000"/>
                </a:solidFill>
                <a:effectLst/>
              </a:rPr>
              <a:t>Income: upper-middle-class (&gt;6LPA)</a:t>
            </a:r>
            <a:endParaRPr lang="en-IN" sz="2400" b="0" dirty="0">
              <a:effectLst/>
            </a:endParaRPr>
          </a:p>
          <a:p>
            <a:pPr rtl="0">
              <a:spcAft>
                <a:spcPts val="1200"/>
              </a:spcAft>
              <a:buNone/>
            </a:pPr>
            <a:r>
              <a:rPr lang="en-IN" sz="2400" b="0" i="0" u="none" strike="noStrike" dirty="0">
                <a:solidFill>
                  <a:srgbClr val="000000"/>
                </a:solidFill>
                <a:effectLst/>
              </a:rPr>
              <a:t>Occupation: college student/Corporate professionals</a:t>
            </a:r>
          </a:p>
          <a:p>
            <a:pPr rtl="0">
              <a:spcAft>
                <a:spcPts val="1200"/>
              </a:spcAft>
              <a:buNone/>
            </a:pPr>
            <a:endParaRPr lang="en-IN" sz="2400" b="0" dirty="0">
              <a:effectLst/>
            </a:endParaRPr>
          </a:p>
          <a:p>
            <a:pPr rtl="0">
              <a:spcAft>
                <a:spcPts val="1200"/>
              </a:spcAft>
              <a:buNone/>
            </a:pPr>
            <a:r>
              <a:rPr lang="en-IN" sz="2400" b="1" i="0" u="none" strike="noStrike" dirty="0">
                <a:solidFill>
                  <a:srgbClr val="000000"/>
                </a:solidFill>
                <a:effectLst/>
              </a:rPr>
              <a:t>Psychographic</a:t>
            </a:r>
            <a:endParaRPr lang="en-IN" sz="2400" b="0" dirty="0">
              <a:effectLst/>
            </a:endParaRPr>
          </a:p>
          <a:p>
            <a:pPr rtl="0">
              <a:spcAft>
                <a:spcPts val="1200"/>
              </a:spcAft>
              <a:buNone/>
            </a:pPr>
            <a:r>
              <a:rPr lang="en-IN" sz="2400" b="0" i="0" u="none" strike="noStrike" dirty="0">
                <a:solidFill>
                  <a:srgbClr val="000000"/>
                </a:solidFill>
                <a:effectLst/>
              </a:rPr>
              <a:t>Attitude Towards Tea: Love Tea as comforting daily ritual</a:t>
            </a:r>
            <a:endParaRPr lang="en-IN" sz="2400" b="0" dirty="0">
              <a:effectLst/>
            </a:endParaRPr>
          </a:p>
          <a:p>
            <a:pPr rtl="0">
              <a:spcAft>
                <a:spcPts val="1200"/>
              </a:spcAft>
              <a:buNone/>
            </a:pPr>
            <a:r>
              <a:rPr lang="en-IN" sz="2400" b="0" i="0" u="none" strike="noStrike" dirty="0">
                <a:solidFill>
                  <a:srgbClr val="000000"/>
                </a:solidFill>
                <a:effectLst/>
              </a:rPr>
              <a:t>Likes: Personalized menu with modern ambience</a:t>
            </a:r>
            <a:endParaRPr lang="en-IN" sz="2400" b="0" dirty="0">
              <a:effectLst/>
            </a:endParaRPr>
          </a:p>
          <a:p>
            <a:pPr rtl="0">
              <a:spcAft>
                <a:spcPts val="1200"/>
              </a:spcAft>
              <a:buNone/>
            </a:pPr>
            <a:r>
              <a:rPr lang="en-IN" sz="2400" b="0" i="0" u="none" strike="noStrike" dirty="0">
                <a:solidFill>
                  <a:srgbClr val="000000"/>
                </a:solidFill>
                <a:effectLst/>
              </a:rPr>
              <a:t>Dislike: High Pricing with poor quality tea</a:t>
            </a:r>
            <a:endParaRPr lang="en-IN" sz="2400" b="0" dirty="0">
              <a:effectLst/>
            </a:endParaRPr>
          </a:p>
          <a:p>
            <a:pPr>
              <a:buNone/>
            </a:pPr>
            <a:br>
              <a:rPr lang="en-IN" sz="2400" dirty="0"/>
            </a:br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135196140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3A9FD1-8163-33FB-9DBA-0DAD39657F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C59354FA-6C74-3EF3-4269-9D7C18A7C50D}"/>
              </a:ext>
            </a:extLst>
          </p:cNvPr>
          <p:cNvSpPr txBox="1"/>
          <p:nvPr/>
        </p:nvSpPr>
        <p:spPr>
          <a:xfrm>
            <a:off x="2075468" y="311085"/>
            <a:ext cx="804106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/>
              <a:t>CONTEXT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7E3C2B7-62CF-735F-C965-780D78352411}"/>
              </a:ext>
            </a:extLst>
          </p:cNvPr>
          <p:cNvSpPr txBox="1"/>
          <p:nvPr/>
        </p:nvSpPr>
        <p:spPr>
          <a:xfrm>
            <a:off x="353961" y="1412904"/>
            <a:ext cx="4493342" cy="33590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0">
              <a:lnSpc>
                <a:spcPct val="150000"/>
              </a:lnSpc>
              <a:buNone/>
            </a:pPr>
            <a:r>
              <a:rPr lang="en-IN" sz="2400" b="1" i="0" u="none" strike="noStrike" dirty="0">
                <a:effectLst/>
              </a:rPr>
              <a:t>Current Retail Environment :</a:t>
            </a:r>
            <a:endParaRPr lang="en-IN" sz="2400" b="1" dirty="0">
              <a:effectLst/>
            </a:endParaRPr>
          </a:p>
          <a:p>
            <a:pPr rtl="0" fontAlgn="base">
              <a:lnSpc>
                <a:spcPct val="150000"/>
              </a:lnSpc>
              <a:buFont typeface="+mj-lt"/>
              <a:buAutoNum type="arabicPeriod"/>
            </a:pPr>
            <a:r>
              <a:rPr lang="en-IN" sz="2400" b="0" i="0" u="none" strike="noStrike" dirty="0">
                <a:effectLst/>
              </a:rPr>
              <a:t>Quick Commerce </a:t>
            </a:r>
          </a:p>
          <a:p>
            <a:pPr rtl="0" fontAlgn="base">
              <a:lnSpc>
                <a:spcPct val="150000"/>
              </a:lnSpc>
              <a:buFont typeface="+mj-lt"/>
              <a:buAutoNum type="arabicPeriod"/>
            </a:pPr>
            <a:r>
              <a:rPr lang="en-IN" sz="2400" b="0" i="0" u="none" strike="noStrike" dirty="0">
                <a:effectLst/>
              </a:rPr>
              <a:t>Organized tea and snacks chains </a:t>
            </a:r>
          </a:p>
          <a:p>
            <a:pPr rtl="0" fontAlgn="base">
              <a:lnSpc>
                <a:spcPct val="150000"/>
              </a:lnSpc>
              <a:buFont typeface="+mj-lt"/>
              <a:buAutoNum type="arabicPeriod"/>
            </a:pPr>
            <a:r>
              <a:rPr lang="en-IN" sz="2400" b="0" i="0" u="none" strike="noStrike" dirty="0">
                <a:effectLst/>
              </a:rPr>
              <a:t>Omnichannel presence</a:t>
            </a:r>
          </a:p>
          <a:p>
            <a:pPr>
              <a:lnSpc>
                <a:spcPct val="150000"/>
              </a:lnSpc>
              <a:buNone/>
            </a:pPr>
            <a:br>
              <a:rPr lang="en-IN" sz="2400" b="0" dirty="0">
                <a:effectLst/>
              </a:rPr>
            </a:br>
            <a:endParaRPr lang="en-IN" sz="24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8983AB6-008F-DA23-1AAB-BC56E26E2173}"/>
              </a:ext>
            </a:extLst>
          </p:cNvPr>
          <p:cNvSpPr txBox="1"/>
          <p:nvPr/>
        </p:nvSpPr>
        <p:spPr>
          <a:xfrm>
            <a:off x="4847303" y="1412905"/>
            <a:ext cx="3687097" cy="22510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0">
              <a:lnSpc>
                <a:spcPct val="150000"/>
              </a:lnSpc>
              <a:buNone/>
            </a:pPr>
            <a:r>
              <a:rPr lang="en-US" sz="2400" b="1" i="0" u="none" strike="noStrike" dirty="0">
                <a:effectLst/>
              </a:rPr>
              <a:t>Customer Trends: </a:t>
            </a:r>
            <a:endParaRPr lang="en-US" sz="2400" b="1" dirty="0">
              <a:effectLst/>
            </a:endParaRPr>
          </a:p>
          <a:p>
            <a:pPr rtl="0" fontAlgn="base">
              <a:lnSpc>
                <a:spcPct val="150000"/>
              </a:lnSpc>
              <a:buFont typeface="+mj-lt"/>
              <a:buAutoNum type="arabicPeriod"/>
            </a:pPr>
            <a:r>
              <a:rPr lang="en-US" sz="2400" b="0" i="0" u="none" strike="noStrike" dirty="0">
                <a:effectLst/>
              </a:rPr>
              <a:t>Healthy Alternatives</a:t>
            </a:r>
          </a:p>
          <a:p>
            <a:pPr rtl="0" fontAlgn="base">
              <a:lnSpc>
                <a:spcPct val="150000"/>
              </a:lnSpc>
              <a:buFont typeface="+mj-lt"/>
              <a:buAutoNum type="arabicPeriod"/>
            </a:pPr>
            <a:r>
              <a:rPr lang="en-US" sz="2400" b="0" i="0" u="none" strike="noStrike" dirty="0">
                <a:effectLst/>
              </a:rPr>
              <a:t>Premium Cafe Experience </a:t>
            </a:r>
          </a:p>
          <a:p>
            <a:pPr rtl="0" fontAlgn="base">
              <a:lnSpc>
                <a:spcPct val="150000"/>
              </a:lnSpc>
              <a:buFont typeface="+mj-lt"/>
              <a:buAutoNum type="arabicPeriod"/>
            </a:pPr>
            <a:r>
              <a:rPr lang="en-US" sz="2400" b="0" i="0" u="none" strike="noStrike" dirty="0">
                <a:effectLst/>
              </a:rPr>
              <a:t>Eco friendly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9C3CD83-62CF-CA25-BC1E-31C358BFF74A}"/>
              </a:ext>
            </a:extLst>
          </p:cNvPr>
          <p:cNvSpPr txBox="1"/>
          <p:nvPr/>
        </p:nvSpPr>
        <p:spPr>
          <a:xfrm>
            <a:off x="8534400" y="1412904"/>
            <a:ext cx="2930013" cy="22510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0">
              <a:lnSpc>
                <a:spcPct val="150000"/>
              </a:lnSpc>
              <a:buNone/>
            </a:pPr>
            <a:r>
              <a:rPr lang="en-US" sz="2400" b="1" i="0" u="none" strike="noStrike" dirty="0">
                <a:effectLst/>
              </a:rPr>
              <a:t>Social Trends:</a:t>
            </a:r>
            <a:endParaRPr lang="en-US" sz="2400" b="1" dirty="0">
              <a:effectLst/>
            </a:endParaRPr>
          </a:p>
          <a:p>
            <a:pPr rtl="0" fontAlgn="base">
              <a:lnSpc>
                <a:spcPct val="150000"/>
              </a:lnSpc>
              <a:buFont typeface="+mj-lt"/>
              <a:buAutoNum type="arabicPeriod"/>
            </a:pPr>
            <a:r>
              <a:rPr lang="en-US" sz="2400" b="0" i="0" u="none" strike="noStrike" dirty="0">
                <a:effectLst/>
              </a:rPr>
              <a:t>Moods of Monsoon </a:t>
            </a:r>
          </a:p>
          <a:p>
            <a:pPr rtl="0" fontAlgn="base">
              <a:lnSpc>
                <a:spcPct val="150000"/>
              </a:lnSpc>
              <a:buFont typeface="+mj-lt"/>
              <a:buAutoNum type="arabicPeriod"/>
            </a:pPr>
            <a:r>
              <a:rPr lang="en-US" sz="2400" b="0" i="0" u="none" strike="noStrike" dirty="0">
                <a:effectLst/>
              </a:rPr>
              <a:t>The Relax Playlist </a:t>
            </a:r>
          </a:p>
          <a:p>
            <a:pPr rtl="0" fontAlgn="base">
              <a:lnSpc>
                <a:spcPct val="150000"/>
              </a:lnSpc>
              <a:buFont typeface="+mj-lt"/>
              <a:buAutoNum type="arabicPeriod"/>
            </a:pPr>
            <a:r>
              <a:rPr lang="en-US" sz="2400" b="0" i="0" u="none" strike="noStrike" dirty="0">
                <a:effectLst/>
              </a:rPr>
              <a:t>Chai pe </a:t>
            </a:r>
            <a:r>
              <a:rPr lang="en-US" sz="2400" b="0" i="0" u="none" strike="noStrike" dirty="0" err="1">
                <a:effectLst/>
              </a:rPr>
              <a:t>charcha</a:t>
            </a:r>
            <a:r>
              <a:rPr lang="en-US" sz="2400" b="0" i="0" u="none" strike="noStrike" dirty="0">
                <a:effectLst/>
              </a:rPr>
              <a:t> </a:t>
            </a:r>
          </a:p>
        </p:txBody>
      </p:sp>
    </p:spTree>
    <p:extLst>
      <p:ext uri="{BB962C8B-B14F-4D97-AF65-F5344CB8AC3E}">
        <p14:creationId xmlns:p14="http://schemas.microsoft.com/office/powerpoint/2010/main" val="55402900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031253-14E4-D6CA-4C1E-2FCD85F0D7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89428F1A-853C-2CBD-C593-0B0F72C4B911}"/>
              </a:ext>
            </a:extLst>
          </p:cNvPr>
          <p:cNvSpPr txBox="1"/>
          <p:nvPr/>
        </p:nvSpPr>
        <p:spPr>
          <a:xfrm>
            <a:off x="2075468" y="311085"/>
            <a:ext cx="804106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/>
              <a:t>VALUE PROPOSITION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DC70837-46D6-9AB6-AA21-86DA5BB65E1F}"/>
              </a:ext>
            </a:extLst>
          </p:cNvPr>
          <p:cNvSpPr txBox="1"/>
          <p:nvPr/>
        </p:nvSpPr>
        <p:spPr>
          <a:xfrm>
            <a:off x="2349910" y="2538888"/>
            <a:ext cx="7285703" cy="13542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0">
              <a:spcAft>
                <a:spcPts val="1200"/>
              </a:spcAft>
              <a:buNone/>
            </a:pPr>
            <a:r>
              <a:rPr lang="en-US" sz="2400" b="0" i="0" u="none" strike="noStrike" dirty="0">
                <a:effectLst/>
              </a:rPr>
              <a:t>Enhancing your chai experience with customization</a:t>
            </a:r>
            <a:endParaRPr lang="en-US" sz="2400" b="0" dirty="0">
              <a:effectLst/>
            </a:endParaRPr>
          </a:p>
          <a:p>
            <a:pPr algn="ctr">
              <a:buNone/>
            </a:pPr>
            <a:br>
              <a:rPr lang="en-US" sz="2400" dirty="0"/>
            </a:br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90082979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F441D8-F98C-7374-C650-711056FA0A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1E6B6E28-7851-32D6-3F96-5378E525F498}"/>
              </a:ext>
            </a:extLst>
          </p:cNvPr>
          <p:cNvSpPr txBox="1"/>
          <p:nvPr/>
        </p:nvSpPr>
        <p:spPr>
          <a:xfrm>
            <a:off x="2075468" y="311085"/>
            <a:ext cx="804106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/>
              <a:t>STRATEGY AND TATICS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F24C142-BFE1-F6CD-01D1-ADA10A1A5517}"/>
              </a:ext>
            </a:extLst>
          </p:cNvPr>
          <p:cNvSpPr txBox="1"/>
          <p:nvPr/>
        </p:nvSpPr>
        <p:spPr>
          <a:xfrm>
            <a:off x="2561341" y="1728256"/>
            <a:ext cx="7069317" cy="22398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0" fontAlgn="base">
              <a:lnSpc>
                <a:spcPct val="150000"/>
              </a:lnSpc>
              <a:buFont typeface="+mj-lt"/>
              <a:buAutoNum type="arabicPeriod"/>
            </a:pPr>
            <a:r>
              <a:rPr lang="en-US" sz="2400" b="0" i="0" u="none" strike="noStrike" dirty="0">
                <a:effectLst/>
                <a:latin typeface="Arial" panose="020B0604020202020204" pitchFamily="34" charset="0"/>
              </a:rPr>
              <a:t>Improving Online In-House Presence  </a:t>
            </a:r>
          </a:p>
          <a:p>
            <a:pPr fontAlgn="base">
              <a:lnSpc>
                <a:spcPct val="150000"/>
              </a:lnSpc>
              <a:buFont typeface="+mj-lt"/>
              <a:buAutoNum type="arabicPeriod"/>
            </a:pPr>
            <a:r>
              <a:rPr lang="en-US" sz="2400" b="0" i="0" u="none" strike="noStrike" dirty="0">
                <a:effectLst/>
                <a:latin typeface="Arial" panose="020B0604020202020204" pitchFamily="34" charset="0"/>
              </a:rPr>
              <a:t>Expansion of outlets on National Highways</a:t>
            </a:r>
          </a:p>
          <a:p>
            <a:pPr rtl="0" fontAlgn="base">
              <a:lnSpc>
                <a:spcPct val="150000"/>
              </a:lnSpc>
              <a:buFont typeface="+mj-lt"/>
              <a:buAutoNum type="arabicPeriod"/>
            </a:pPr>
            <a:r>
              <a:rPr lang="en-US" sz="2400" b="0" i="0" u="none" strike="noStrike" dirty="0">
                <a:effectLst/>
                <a:latin typeface="Arial" panose="020B0604020202020204" pitchFamily="34" charset="0"/>
              </a:rPr>
              <a:t>Creation of smoking areas within outlets</a:t>
            </a:r>
          </a:p>
          <a:p>
            <a:pPr rtl="0" fontAlgn="base">
              <a:lnSpc>
                <a:spcPct val="150000"/>
              </a:lnSpc>
              <a:spcAft>
                <a:spcPts val="1200"/>
              </a:spcAft>
              <a:buFont typeface="+mj-lt"/>
              <a:buAutoNum type="arabicPeriod"/>
            </a:pPr>
            <a:r>
              <a:rPr lang="en-US" sz="2400" b="0" i="0" u="none" strike="noStrike" dirty="0">
                <a:effectLst/>
                <a:latin typeface="Arial" panose="020B0604020202020204" pitchFamily="34" charset="0"/>
              </a:rPr>
              <a:t>Events Chai Catering</a:t>
            </a:r>
          </a:p>
        </p:txBody>
      </p:sp>
    </p:spTree>
    <p:extLst>
      <p:ext uri="{BB962C8B-B14F-4D97-AF65-F5344CB8AC3E}">
        <p14:creationId xmlns:p14="http://schemas.microsoft.com/office/powerpoint/2010/main" val="172809102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709D53-556C-D55E-612C-4D574D79CE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DBA03EF-9739-8CF1-9DB6-A856C65D82FB}"/>
              </a:ext>
            </a:extLst>
          </p:cNvPr>
          <p:cNvSpPr txBox="1"/>
          <p:nvPr/>
        </p:nvSpPr>
        <p:spPr>
          <a:xfrm>
            <a:off x="2061327" y="2403835"/>
            <a:ext cx="8069345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600" dirty="0"/>
              <a:t>FIN.</a:t>
            </a:r>
            <a:endParaRPr lang="en-IN" sz="6600" dirty="0"/>
          </a:p>
        </p:txBody>
      </p:sp>
    </p:spTree>
    <p:extLst>
      <p:ext uri="{BB962C8B-B14F-4D97-AF65-F5344CB8AC3E}">
        <p14:creationId xmlns:p14="http://schemas.microsoft.com/office/powerpoint/2010/main" val="191673592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166</TotalTime>
  <Words>278</Words>
  <Application>Microsoft Macintosh PowerPoint</Application>
  <PresentationFormat>Widescreen</PresentationFormat>
  <Paragraphs>96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Isha Agarwal</dc:creator>
  <cp:lastModifiedBy>Komal Gera</cp:lastModifiedBy>
  <cp:revision>2</cp:revision>
  <dcterms:created xsi:type="dcterms:W3CDTF">2025-05-30T16:27:00Z</dcterms:created>
  <dcterms:modified xsi:type="dcterms:W3CDTF">2025-05-31T04:58:16Z</dcterms:modified>
</cp:coreProperties>
</file>